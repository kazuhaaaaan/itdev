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32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43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567"/>
          </a:solidFill>
          <a:ln w="12700">
            <a:solidFill>
              <a:srgbClr val="1A35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F2550"/>
          </a:solidFill>
          <a:ln w="12700">
            <a:solidFill>
              <a:srgbClr val="0F2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IT INFRASTRUCTURE ANALYSIS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Home, Business,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Dedicated: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Tepat untuk Perusahaan Anda?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5029200" cy="36576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461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Teknis &amp; Finansial untuk Pengambilan Keputusan Strategis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 err="1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r>
              <a:rPr lang="en-US" sz="13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 err="1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Cuatrodia</a:t>
            </a:r>
            <a:r>
              <a:rPr lang="en-US" sz="13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oleh: IT Consultant &amp; Network Engineer  |  Disampaikan kepada: C-Level / Direksi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9144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Pengantar: Jaringan Adalah Tulang Punggung Bisnis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 era digital, koneksi internet bukan sekadar fasilitas — melainkan infrastruktur kritis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setara listrik dan air. Gangguan berarti operasional terhenti dan kerugian finansial nyata."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2788920" cy="8229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Perangkat Aktif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kerja berat: editing video/grafis, virtual meeting simultan, transfer file besar. Setiap perangkat butuh koneksi yang stabil dan cepat.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2240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2240280"/>
            <a:ext cx="278892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231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Home: Risiko Tinggi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asimetris, contention ratio, FUP, dan tanpa SLA menjadikan koneksi rumahan tidak layak untuk operasional korporat.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17920" y="2240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240280"/>
            <a:ext cx="278892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2316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= Investasi Tepat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simetris 1:1, SLA uptime 99.5%+, IP Statis, jalur eksklusif, dan support 24/7 adalah standar minimal untuk perusahaan.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PROFIL KEBUTUHAN PERUSAHAAN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Teknis Beban Jaringan: 80 Perangkat Aktif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070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1704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84048" y="16642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Aktif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20700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81528" y="11704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624328" y="16642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Zoom/Meet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Bersamaan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2070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1808" y="11704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864608" y="16642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Upload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Dibutuhkan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49440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12070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16368" y="11704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7059168" y="16642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Meeting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74320" y="2670048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74320" y="2670048"/>
            <a:ext cx="41148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84048" y="2761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Estimasi Kebutuhan Bandwidth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84048" y="317296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 (40 sesi × 3 Mbps up)  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Mbps upload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Video/Grafis (20 user)  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400 Mbps upload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Browsing &amp; Cloud (80 user)  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80 Mbps download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KEBUTUHAN UPLOAD  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520–600 Mbps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663440" y="2670048"/>
            <a:ext cx="4160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63440" y="2670048"/>
            <a:ext cx="4160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73168" y="27614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Karakteristik Kritis yang Dibutuhkan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773168" y="317296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simetris tinggi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editing &amp; file sharing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stabil &lt; 50ms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real-time meeting tanpa lag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packet loss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kualitas audio/video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24/7 terjamin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operasional tidak boleh terhenti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Publik Statis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remote access &amp; keamanan sistem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ANALISIS INTERNET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"500 Mbps" Rumahan Tidak Cukup untuk Perusahaan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25296"/>
            <a:ext cx="804672" cy="246888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252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499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Bandwidth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8470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"500 Mbps" berarti 500 Mbps download saja. Upload aktual hanya 20–50 Mbps. Padahal perusahaan Anda butuh upload ~600 Mbps untuk editing dan meeting simultan. Upload yang kecil = bottleneck fatal.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15568"/>
            <a:ext cx="6400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25296"/>
            <a:ext cx="804672" cy="246888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252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73752" y="1499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Ratio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18470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dibagi dengan ratusan pengguna lain di area yang sama ("Up-To" bukan "Dedicated"). Saat jam sibuk (08.00–17.00), kecepatan aktual bisa turun drastis hingga 10–20% dari nilai nominal.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54680"/>
            <a:ext cx="64008" cy="1783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264408"/>
            <a:ext cx="804672" cy="246888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6440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Usage Policy (FUP)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886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kuota FUP habis (misal 300 GB/bulan), kecepatan di-throttle. Untuk perusahaan dengan 80 device dan heavy traffic, kuota FUP bisa habis dalam hitungan hari.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154680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264408"/>
            <a:ext cx="804672" cy="246888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26440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73752" y="3538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SLA (Garansi Layanan)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3886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Service Level Agreement. ISP tidak wajib menjamin uptime, waktu perbaikan, atau kualitas koneksi. Jika internet mati, tidak ada kompensasi dan waktu respons support tidak terjamin.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MITOS BACKUP 2 ISP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"Pakai 2 ISP Rumahan = Aman" — Anggapan yang Berbahaya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15568"/>
            <a:ext cx="7726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dua koneksi ISP rumahan (load balancing / failover) dengan router standar TIDAK menyelesaikan masalah fundamental pada koneksi home broadband.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1874520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874520"/>
            <a:ext cx="64008" cy="8778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9476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05840" y="1947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Tidak Stabil saat Load Balancing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5840" y="22677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applications seperti Zoom, Google Meet, atau VPN membutuhkan satu koneksi konsisten. Load balancer home router akan memecah sesi ke 2 jalur berbeda, menyebabkan packet loss, jitter tinggi, dan koneksi terputus tiba-tiba.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862072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862072"/>
            <a:ext cx="64008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93522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" y="29352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saat Proses Failover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" y="32552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ISP-1 mati dan router melakukan failover ke ISP-2, ada jeda 15–120 detik (tergantung konfigurasi). Dalam skenario meeting aktif atau transfer file besar, jeda ini cukup untuk merusak sesi kerja seluruh tim.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849624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849624"/>
            <a:ext cx="64008" cy="877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9227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005840" y="39227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 Tetap Tidak Terselesaikan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24281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kali bandwidth asimetris + dua contention ratio + dua FUP = tetap tidak cukup upload dan tidak ada SLA. Anda hanya menggandakan biaya dengan menggandakan risiko. Masalah fundamental (upload kecil, contention, no SLA) tidak hilang.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SOLUSI: INTERNET DEDICATED /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Enterprise-Grade yang Tidak Dimiliki Koneksi Rumahan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78992"/>
            <a:ext cx="283464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618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12618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Symmetrical Bandwidth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" y="1700784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= Download. Paket 100 Mbps dedicated = 100 Mbps upload + 100 Mbps download penuh. Ideal untuk editing cloud, backup, dan meeting simultan.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078992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78992"/>
            <a:ext cx="28346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618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618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Uptime Terjamin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1700784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Garansi uptime 99.5%–99.9% (&lt; 4 jam downtime/tahun). Kompensasi finansial jika SLA dilanggar. Komitmen legal dari ISP.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91072" y="1078992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078992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2618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2618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Eksklusif (No Contention)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28232" y="1700784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tidak dibagi dengan tetangga. Kecepatan konsisten 24/7 tanpa degradasi di jam sibuk. Dedicated pipe khusus untuk bisnis Anda.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01168" y="2880360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01168" y="2880360"/>
            <a:ext cx="2834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06324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5528" y="3063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Publik Statis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8328" y="35021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IP tetap, tidak berubah. Wajib untuk: VPN korporat, remote desktop, server hosting, sistem keamanan berbasis IP.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46120" y="2880360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880360"/>
            <a:ext cx="283464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06324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3063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MRTG / 24x7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83280" y="35021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menyediakan real-time bandwidth monitoring. Laporan traffic bulanan. Deteksi anomali dan troubleshooting proaktif oleh tim NOC.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291072" y="2880360"/>
            <a:ext cx="2834640" cy="16002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91072" y="2880360"/>
            <a:ext cx="28346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06324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85432" y="3063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24/7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428232" y="35021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NOC khusus, respon dalam hitungan menit. SLA perbaikan (misalnya: maksimal 4 jam resolusi). Tidak antre dengan pelanggan rumahan.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fitur di atas adalah STANDAR MINIMAL untuk operasional perusahaan dengan 80+ perangkat aktif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PERBANDINGAN KOMPREHENSIF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Home vs Business vs Dedicated — Head to Head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828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21408" y="1078992"/>
            <a:ext cx="201168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10789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 MBPS)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51376" y="1078992"/>
            <a:ext cx="2194560" cy="475488"/>
          </a:xfrm>
          <a:prstGeom prst="rect">
            <a:avLst/>
          </a:prstGeom>
          <a:solidFill>
            <a:srgbClr val="7835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1376" y="10789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BUSINESS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64224" y="1078992"/>
            <a:ext cx="2468880" cy="475488"/>
          </a:xfrm>
          <a:prstGeom prst="rect">
            <a:avLst/>
          </a:prstGeom>
          <a:solidFill>
            <a:srgbClr val="1453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0789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DEDICATED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REKOMENDASI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18288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7276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Upload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21408" y="1572768"/>
            <a:ext cx="201168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157276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Mbps 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51376" y="1572768"/>
            <a:ext cx="2194560" cy="4297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97096" y="1572768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Mbps ⚠️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64224" y="1572768"/>
            <a:ext cx="24688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57276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dengan Download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002536"/>
            <a:ext cx="1828800" cy="4297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0253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Ratio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21408" y="2002536"/>
            <a:ext cx="2011680" cy="429768"/>
          </a:xfrm>
          <a:prstGeom prst="rect">
            <a:avLst/>
          </a:prstGeom>
          <a:solidFill>
            <a:srgbClr val="FCE4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200253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hingga 1:200 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51376" y="2002536"/>
            <a:ext cx="2194560" cy="429768"/>
          </a:xfrm>
          <a:prstGeom prst="rect">
            <a:avLst/>
          </a:prstGeom>
          <a:solidFill>
            <a:srgbClr val="FEF0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00253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hingga 1:20 ⚠️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64224" y="2002536"/>
            <a:ext cx="2468880" cy="429768"/>
          </a:xfrm>
          <a:prstGeom prst="rect">
            <a:avLst/>
          </a:prstGeom>
          <a:solidFill>
            <a:srgbClr val="DCF5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00253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(Eksklusif) 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32304"/>
            <a:ext cx="18288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43230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Uptime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21408" y="2432304"/>
            <a:ext cx="201168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243230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51376" y="2432304"/>
            <a:ext cx="2194560" cy="4297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97096" y="2432304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 ⚠️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64224" y="2432304"/>
            <a:ext cx="24688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432304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99.5%–99.9% 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862072"/>
            <a:ext cx="1828800" cy="4297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862072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 (Throttling)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21408" y="2862072"/>
            <a:ext cx="2011680" cy="429768"/>
          </a:xfrm>
          <a:prstGeom prst="rect">
            <a:avLst/>
          </a:prstGeom>
          <a:solidFill>
            <a:srgbClr val="FCE4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67128" y="286207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(Keras) 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51376" y="2862072"/>
            <a:ext cx="2194560" cy="429768"/>
          </a:xfrm>
          <a:prstGeom prst="rect">
            <a:avLst/>
          </a:prstGeom>
          <a:solidFill>
            <a:srgbClr val="FEF0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97096" y="286207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(Longgar) ⚠️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64224" y="2862072"/>
            <a:ext cx="2468880" cy="429768"/>
          </a:xfrm>
          <a:prstGeom prst="rect">
            <a:avLst/>
          </a:prstGeom>
          <a:solidFill>
            <a:srgbClr val="DCF5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9944" y="2862072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291840"/>
            <a:ext cx="18288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29184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Publik Statis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21408" y="3291840"/>
            <a:ext cx="201168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67128" y="329184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❌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51376" y="3291840"/>
            <a:ext cx="2194560" cy="4297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97096" y="329184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Opsional/Berbayar ⚠️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64224" y="3291840"/>
            <a:ext cx="24688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9944" y="329184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✓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3721608"/>
            <a:ext cx="1828800" cy="4297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2160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NOC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121408" y="3721608"/>
            <a:ext cx="2011680" cy="429768"/>
          </a:xfrm>
          <a:prstGeom prst="rect">
            <a:avLst/>
          </a:prstGeom>
          <a:solidFill>
            <a:srgbClr val="FCE4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67128" y="372160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51376" y="3721608"/>
            <a:ext cx="2194560" cy="429768"/>
          </a:xfrm>
          <a:prstGeom prst="rect">
            <a:avLst/>
          </a:prstGeom>
          <a:solidFill>
            <a:srgbClr val="FEF0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97096" y="3721608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 ⚠️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64224" y="3721608"/>
            <a:ext cx="2468880" cy="429768"/>
          </a:xfrm>
          <a:prstGeom prst="rect">
            <a:avLst/>
          </a:prstGeom>
          <a:solidFill>
            <a:srgbClr val="DCF5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9944" y="372160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Real-time ✓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4151376"/>
            <a:ext cx="18288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151376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21408" y="4151376"/>
            <a:ext cx="201168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67128" y="415137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 (Hari) ❌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51376" y="4151376"/>
            <a:ext cx="2194560" cy="42976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97096" y="415137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Jam ⚠️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64224" y="4151376"/>
            <a:ext cx="24688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9944" y="415137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Jam (NOC) ✓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4581144"/>
            <a:ext cx="1828800" cy="4297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4581144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80 Device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121408" y="4581144"/>
            <a:ext cx="2011680" cy="429768"/>
          </a:xfrm>
          <a:prstGeom prst="rect">
            <a:avLst/>
          </a:prstGeom>
          <a:solidFill>
            <a:srgbClr val="FCE4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67128" y="458114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❌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151376" y="4581144"/>
            <a:ext cx="2194560" cy="429768"/>
          </a:xfrm>
          <a:prstGeom prst="rect">
            <a:avLst/>
          </a:prstGeom>
          <a:solidFill>
            <a:srgbClr val="FEF0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97096" y="4581144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Tinggi ⚠️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364224" y="4581144"/>
            <a:ext cx="2468880" cy="429768"/>
          </a:xfrm>
          <a:prstGeom prst="rect">
            <a:avLst/>
          </a:prstGeom>
          <a:solidFill>
            <a:srgbClr val="DCF5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9944" y="4581144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✓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ANALISIS COST vs RISK (ROI)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"Penghematan" Rp 2 Juta vs Kerugian Rp 100 Juta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39776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Perbandingan Biaya Bulanan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37033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6420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ISP Home 500 Mbps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~Rp 1.6 Jt/bln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3042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× Rp 800rb)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715768"/>
            <a:ext cx="370332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715768"/>
            <a:ext cx="54864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Business 100 Mbps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~Rp 3–5 Jt/bln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355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Symmetrical, SLA terbatas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767328"/>
            <a:ext cx="370332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767328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Dedicated 100 Mbps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~Rp 5–10 Jt/bln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Full SLA, 24/7 NOC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681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Home vs Dedicated: ~Rp 3–8 Jt/bulan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1078992"/>
            <a:ext cx="4434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62272" y="1078992"/>
            <a:ext cx="44348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11704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Potensi Kerugian Saat Internet Home Down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90288" y="1627632"/>
            <a:ext cx="41605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67335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Asumsi: 80 karyawan × gaji rata-rata Rp 8 Jt/bulan = Rp 640 Jt/bulan = ~Rp 4.2 Jt per jam kerja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0288" y="2148840"/>
            <a:ext cx="4160520" cy="59436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Down 1 Jam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21762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4,2 Jt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81728" y="2487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productivity 80 karyawan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90288" y="2816352"/>
            <a:ext cx="416052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862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Down 4 Jam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2843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16,8 Jt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81728" y="3154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klien batal, deadline terlewat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90288" y="3483864"/>
            <a:ext cx="4160520" cy="59436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529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Down 1 Hari (8 jam)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0" y="35112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33,6 Jt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81728" y="3822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reputasi klien &amp; potensi penalti kontrak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90288" y="4151376"/>
            <a:ext cx="416052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Down 2× / Bulan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0" y="4178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67 Jt+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81728" y="4489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Akumulasi dalam 1 bulan saja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62272" y="4572000"/>
            <a:ext cx="4434840" cy="36576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4608576"/>
            <a:ext cx="42793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Dedicate Rp 5–10 Jt/bln JAUH LEBIH MURAH daripada kehilangan Rp 33–67 Jt per insiden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0F2550"/>
          </a:solidFill>
          <a:ln w="12700">
            <a:solidFill>
              <a:srgbClr val="0F2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F2550"/>
          </a:solidFill>
          <a:ln w="12700">
            <a:solidFill>
              <a:srgbClr val="0F2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KESIMPULAN &amp; REKOMENDASI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Strategis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Infrastruktur Internet Perusahaan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2697480" cy="306324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55648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11096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11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</a:t>
            </a:r>
            <a:endParaRPr lang="en-US" sz="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2860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" y="2871216"/>
            <a:ext cx="2478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Home (Sekalipun 2 ISP)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" y="3511296"/>
            <a:ext cx="247802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upload, contention ratio tinggi, FUP, dan tanpa SLA = risiko operasional yang tidak dapat diterima untuk 80 perangkat aktif.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10128" y="1755648"/>
            <a:ext cx="2697480" cy="306324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10128" y="1755648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47288" y="1911096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47288" y="1911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 HANYA JIKA</a:t>
            </a:r>
            <a:endParaRPr lang="en-US" sz="8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36" y="22860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9856" y="2871216"/>
            <a:ext cx="2478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Business (Shared)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19856" y="3511296"/>
            <a:ext cx="247802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budget sangat terbatas, Business Shared bisa menjadi opsi sementara — namun tetap ada risiko di jam sibuk. Harus disertai komitmen upgrade dalam 6 bulan.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63056" y="1755648"/>
            <a:ext cx="2697480" cy="306324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63056" y="1755648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0216" y="1911096"/>
            <a:ext cx="2423160" cy="27432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00216" y="1911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UTAMA</a:t>
            </a:r>
            <a:endParaRPr lang="en-US" sz="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228600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784" y="2871216"/>
            <a:ext cx="2478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Dedicated (Fiber/Metro-E)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72784" y="3511296"/>
            <a:ext cx="247802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solusi yang menjamin operasional 80 perangkat. ROI terbukti: biaya Rp 5–10 Jt/bulan vs potensi kerugian Rp 33 Jt+ per insiden downtime.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38912" y="4828032"/>
            <a:ext cx="8275320" cy="228600"/>
          </a:xfrm>
          <a:prstGeom prst="rect">
            <a:avLst/>
          </a:prstGeom>
          <a:solidFill>
            <a:srgbClr val="142454"/>
          </a:solidFill>
          <a:ln w="12700">
            <a:solidFill>
              <a:srgbClr val="1E347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38912" y="4828032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pada infrastruktur jaringan yang tepat adalah investasi pada produktivitas, reputasi, dan kelangsungan bisnis Anda.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1321</Words>
  <Application>Microsoft Office PowerPoint</Application>
  <PresentationFormat>On-screen Show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Home vs Business vs Dedicated – Analisis untuk Perusahaan</dc:title>
  <dc:subject>PptxGenJS Presentation</dc:subject>
  <dc:creator>IT Consultant &amp; Network Engineer</dc:creator>
  <cp:lastModifiedBy>Soni Hikari</cp:lastModifiedBy>
  <cp:revision>2</cp:revision>
  <dcterms:created xsi:type="dcterms:W3CDTF">2026-05-20T07:59:14Z</dcterms:created>
  <dcterms:modified xsi:type="dcterms:W3CDTF">2026-05-20T11:00:21Z</dcterms:modified>
</cp:coreProperties>
</file>